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52CC"/>
                </a:solidFill>
                <a:latin typeface="Segoe UI"/>
              </a:defRPr>
            </a:pPr>
            <a:r>
              <a:t>COUPA · SR. LEAD, P&amp;T OPERATIONS · 90-DAY ROLLOUT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371600" cy="54864"/>
          </a:xfrm>
          <a:prstGeom prst="rect">
            <a:avLst/>
          </a:prstGeom>
          <a:solidFill>
            <a:srgbClr val="0052CC"/>
          </a:solidFill>
          <a:ln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72B4D"/>
                </a:solidFill>
                <a:latin typeface="Segoe UI"/>
              </a:defRPr>
            </a:pPr>
            <a:r>
              <a:t>Turning the CuCP Framework</a:t>
            </a:r>
            <a:br/>
            <a:r>
              <a:t>into Adopted Reality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E6C84"/>
                </a:solidFill>
                <a:latin typeface="Segoe UI"/>
              </a:defRPr>
            </a:pPr>
            <a:r>
              <a:t>A 90-day plan to implement and scale the Customer Collaboration Program — from paper framework to predictable launch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5E6C84"/>
                </a:solidFill>
                <a:latin typeface="Segoe UI"/>
              </a:defRPr>
            </a:pPr>
            <a:r>
              <a:t>PRESENTED BY</a:t>
            </a:r>
          </a:p>
          <a:p>
            <a:pPr>
              <a:defRPr sz="1300" b="1">
                <a:solidFill>
                  <a:srgbClr val="172B4D"/>
                </a:solidFill>
                <a:latin typeface="Segoe UI"/>
              </a:defRPr>
            </a:pPr>
            <a:r>
              <a:t>Vittobha Vignesh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39" y="47548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5E6C84"/>
                </a:solidFill>
                <a:latin typeface="Segoe UI"/>
              </a:defRPr>
            </a:pPr>
            <a:r>
              <a:t>ROLE</a:t>
            </a:r>
          </a:p>
          <a:p>
            <a:pPr>
              <a:defRPr sz="1300" b="1">
                <a:solidFill>
                  <a:srgbClr val="172B4D"/>
                </a:solidFill>
                <a:latin typeface="Segoe UI"/>
              </a:defRPr>
            </a:pPr>
            <a:r>
              <a:t>Sr. Lead, P&amp;T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59" y="47548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5E6C84"/>
                </a:solidFill>
                <a:latin typeface="Segoe UI"/>
              </a:defRPr>
            </a:pPr>
            <a:r>
              <a:t>PROGRAMME</a:t>
            </a:r>
          </a:p>
          <a:p>
            <a:pPr>
              <a:defRPr sz="1300" b="1">
                <a:solidFill>
                  <a:srgbClr val="172B4D"/>
                </a:solidFill>
                <a:latin typeface="Segoe UI"/>
              </a:defRPr>
            </a:pPr>
            <a:r>
              <a:t>Customer Collaboration (CuCP)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47548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5E6C84"/>
                </a:solidFill>
                <a:latin typeface="Segoe UI"/>
              </a:defRPr>
            </a:pPr>
            <a:r>
              <a:t>SCOPE</a:t>
            </a:r>
          </a:p>
          <a:p>
            <a:pPr>
              <a:defRPr sz="1300" b="1">
                <a:solidFill>
                  <a:srgbClr val="172B4D"/>
                </a:solidFill>
                <a:latin typeface="Segoe UI"/>
              </a:defRPr>
            </a:pPr>
            <a:r>
              <a:t>Days 1–90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72B4D"/>
                </a:solidFill>
                <a:latin typeface="Segoe UI"/>
              </a:defRPr>
            </a:pPr>
            <a:r>
              <a:t>Change Management &amp; Adoption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E6C84"/>
                </a:solidFill>
                <a:latin typeface="Segoe UI"/>
              </a:defRPr>
            </a:pPr>
            <a:r>
              <a:t>Change management starts with understanding the resistance, then flipping the narrative.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56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5630"/>
                </a:solidFill>
                <a:latin typeface="Segoe UI"/>
              </a:defRPr>
            </a:pPr>
            <a:r>
              <a:t>THE PROBLEM: FRAGMENTED EXECUTION</a:t>
            </a:r>
          </a:p>
          <a:p>
            <a:pPr>
              <a:spcAft>
                <a:spcPts val="800"/>
              </a:spcAft>
              <a:defRPr sz="1300">
                <a:solidFill>
                  <a:srgbClr val="172B4D"/>
                </a:solidFill>
                <a:latin typeface="Segoe UI"/>
              </a:defRPr>
            </a:pPr>
            <a:r>
              <a:t>•  Ad-hoc EAP/LA engagement, no standard process</a:t>
            </a:r>
          </a:p>
          <a:p>
            <a:pPr>
              <a:spcAft>
                <a:spcPts val="800"/>
              </a:spcAft>
              <a:defRPr sz="1300">
                <a:solidFill>
                  <a:srgbClr val="172B4D"/>
                </a:solidFill>
                <a:latin typeface="Segoe UI"/>
              </a:defRPr>
            </a:pPr>
            <a:r>
              <a:t>•  "Definition drift" — scope shifts before GA</a:t>
            </a:r>
          </a:p>
          <a:p>
            <a:pPr>
              <a:spcAft>
                <a:spcPts val="800"/>
              </a:spcAft>
              <a:defRPr sz="1300">
                <a:solidFill>
                  <a:srgbClr val="172B4D"/>
                </a:solidFill>
                <a:latin typeface="Segoe UI"/>
              </a:defRPr>
            </a:pPr>
            <a:r>
              <a:t>•  No exit criteria → risky launch decisions</a:t>
            </a:r>
          </a:p>
          <a:p>
            <a:pPr>
              <a:spcAft>
                <a:spcPts val="800"/>
              </a:spcAft>
              <a:defRPr sz="1300">
                <a:solidFill>
                  <a:srgbClr val="172B4D"/>
                </a:solidFill>
                <a:latin typeface="Segoe UI"/>
              </a:defRPr>
            </a:pPr>
            <a:r>
              <a:t>•  PMs see CuCP as admin overhead slowing velocity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6B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6B37E"/>
                </a:solidFill>
                <a:latin typeface="Segoe UI"/>
              </a:defRPr>
            </a:pPr>
            <a:r>
              <a:t>STRATEGY: EARN ADOPTION, DON'T MANDATE IT</a:t>
            </a:r>
          </a:p>
          <a:p>
            <a:pPr>
              <a:spcAft>
                <a:spcPts val="800"/>
              </a:spcAft>
              <a:defRPr sz="1300">
                <a:solidFill>
                  <a:srgbClr val="172B4D"/>
                </a:solidFill>
                <a:latin typeface="Segoe UI"/>
              </a:defRPr>
            </a:pPr>
            <a:r>
              <a:t>•  Lead with PM pain — not programme goals</a:t>
            </a:r>
          </a:p>
          <a:p>
            <a:pPr>
              <a:spcAft>
                <a:spcPts val="800"/>
              </a:spcAft>
              <a:defRPr sz="1300">
                <a:solidFill>
                  <a:srgbClr val="172B4D"/>
                </a:solidFill>
                <a:latin typeface="Segoe UI"/>
              </a:defRPr>
            </a:pPr>
            <a:r>
              <a:t>•  Find proto-champions already doing EAP work</a:t>
            </a:r>
          </a:p>
          <a:p>
            <a:pPr>
              <a:spcAft>
                <a:spcPts val="800"/>
              </a:spcAft>
              <a:defRPr sz="1300">
                <a:solidFill>
                  <a:srgbClr val="172B4D"/>
                </a:solidFill>
                <a:latin typeface="Segoe UI"/>
              </a:defRPr>
            </a:pPr>
            <a:r>
              <a:t>•  Make first experience frictionless — I absorb the admin</a:t>
            </a:r>
          </a:p>
          <a:p>
            <a:pPr>
              <a:spcAft>
                <a:spcPts val="800"/>
              </a:spcAft>
              <a:defRPr sz="1300">
                <a:solidFill>
                  <a:srgbClr val="172B4D"/>
                </a:solidFill>
                <a:latin typeface="Segoe UI"/>
              </a:defRPr>
            </a:pPr>
            <a:r>
              <a:t>•  Their story converts sceptics, mine doesn't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280160"/>
          </a:xfrm>
          <a:prstGeom prst="roundRect">
            <a:avLst/>
          </a:prstGeom>
          <a:solidFill>
            <a:srgbClr val="DEEBFF"/>
          </a:solidFill>
          <a:ln w="12700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52CC"/>
                </a:solidFill>
                <a:latin typeface="Segoe UI"/>
              </a:defRPr>
            </a:pPr>
            <a:r>
              <a:t>The message that lands: "CuCP is your evidence kit — not a compliance checklist."</a:t>
            </a:r>
          </a:p>
          <a:p>
            <a:pPr>
              <a:defRPr sz="1300">
                <a:solidFill>
                  <a:srgbClr val="172B4D"/>
                </a:solidFill>
                <a:latin typeface="Segoe UI"/>
              </a:defRPr>
            </a:pPr>
            <a:r>
              <a:t>Structured EAP data protects PMs at GA. It answers "how do we know this is ready?" with customer signal, not gut feel.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72B4D"/>
                </a:solidFill>
                <a:latin typeface="Segoe UI"/>
              </a:defRPr>
            </a:pPr>
            <a:r>
              <a:t>Capability Classifications: Standard vs.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E6C84"/>
                </a:solidFill>
                <a:latin typeface="Segoe UI"/>
              </a:defRPr>
            </a:pPr>
            <a:r>
              <a:t>Pre-GA validation strategies are structured to match the risk profile of each release path.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52CC"/>
                </a:solidFill>
                <a:latin typeface="Segoe UI"/>
              </a:defRPr>
            </a:pPr>
            <a:r>
              <a:t>STANDARD CAPABILITIES</a:t>
            </a:r>
          </a:p>
          <a:p>
            <a:pPr>
              <a:spcBef>
                <a:spcPts val="600"/>
              </a:spcBef>
              <a:defRPr sz="1250">
                <a:solidFill>
                  <a:srgbClr val="172B4D"/>
                </a:solidFill>
                <a:latin typeface="Segoe UI"/>
              </a:defRPr>
            </a:pPr>
            <a:r>
              <a:t>•  Definition: Built on deterministic logic and structured workflows (no AI).</a:t>
            </a:r>
          </a:p>
          <a:p>
            <a:pPr>
              <a:spcBef>
                <a:spcPts val="600"/>
              </a:spcBef>
              <a:defRPr sz="1250">
                <a:solidFill>
                  <a:srgbClr val="172B4D"/>
                </a:solidFill>
                <a:latin typeface="Segoe UI"/>
              </a:defRPr>
            </a:pPr>
            <a:r>
              <a:t>•  Examples: New sourcing dashboards, workflow routing rules, UI redesigns.</a:t>
            </a:r>
          </a:p>
          <a:p>
            <a:pPr>
              <a:spcBef>
                <a:spcPts val="600"/>
              </a:spcBef>
              <a:defRPr sz="1250">
                <a:solidFill>
                  <a:srgbClr val="172B4D"/>
                </a:solidFill>
                <a:latin typeface="Segoe UI"/>
              </a:defRPr>
            </a:pPr>
            <a:r>
              <a:t>•  Pre-GA Focus: Validate operational readiness, scalability, support enablement.</a:t>
            </a:r>
          </a:p>
          <a:p>
            <a:pPr>
              <a:spcBef>
                <a:spcPts val="600"/>
              </a:spcBef>
              <a:defRPr sz="1250">
                <a:solidFill>
                  <a:srgbClr val="172B4D"/>
                </a:solidFill>
                <a:latin typeface="Segoe UI"/>
              </a:defRPr>
            </a:pPr>
            <a:r>
              <a:t>•  Cohort Sizes: Controlled, small customer cohorts (5-10 max) are sufficient.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6B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6B37E"/>
                </a:solidFill>
                <a:latin typeface="Segoe UI"/>
              </a:defRPr>
            </a:pPr>
            <a:r>
              <a:t>AI CAPABILITIES (AI-ASSISTED &amp; AGENTIC)</a:t>
            </a:r>
          </a:p>
          <a:p>
            <a:pPr>
              <a:spcBef>
                <a:spcPts val="600"/>
              </a:spcBef>
              <a:defRPr sz="1250">
                <a:solidFill>
                  <a:srgbClr val="172B4D"/>
                </a:solidFill>
                <a:latin typeface="Segoe UI"/>
              </a:defRPr>
            </a:pPr>
            <a:r>
              <a:t>•  Definition: Powered by ML/LLMs. Probabilistic models requiring user feedback loop.</a:t>
            </a:r>
          </a:p>
          <a:p>
            <a:pPr>
              <a:spcBef>
                <a:spcPts val="600"/>
              </a:spcBef>
              <a:defRPr sz="1250">
                <a:solidFill>
                  <a:srgbClr val="172B4D"/>
                </a:solidFill>
                <a:latin typeface="Segoe UI"/>
              </a:defRPr>
            </a:pPr>
            <a:r>
              <a:t>•  Examples: Copilot context recommendations, Agent Studio autonomous workflows.</a:t>
            </a:r>
          </a:p>
          <a:p>
            <a:pPr>
              <a:spcBef>
                <a:spcPts val="600"/>
              </a:spcBef>
              <a:defRPr sz="1250">
                <a:solidFill>
                  <a:srgbClr val="172B4D"/>
                </a:solidFill>
                <a:latin typeface="Segoe UI"/>
              </a:defRPr>
            </a:pPr>
            <a:r>
              <a:t>•  Pre-GA Focus: Model tuning, trust/safety guardrails, telemetry integration.</a:t>
            </a:r>
          </a:p>
          <a:p>
            <a:pPr>
              <a:spcBef>
                <a:spcPts val="600"/>
              </a:spcBef>
              <a:defRPr sz="1250">
                <a:solidFill>
                  <a:srgbClr val="172B4D"/>
                </a:solidFill>
                <a:latin typeface="Segoe UI"/>
              </a:defRPr>
            </a:pPr>
            <a:r>
              <a:t>•  Cohort Gating: Widescale cohort feedback; benefits from frictionless Open Beta.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698480" cy="1280160"/>
          </a:xfrm>
          <a:prstGeom prst="roundRect">
            <a:avLst/>
          </a:prstGeom>
          <a:solidFill>
            <a:srgbClr val="DEEBFF"/>
          </a:solidFill>
          <a:ln w="12700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52CC"/>
                </a:solidFill>
                <a:latin typeface="Segoe UI"/>
              </a:defRPr>
            </a:pPr>
            <a:r>
              <a:t>THE PRINCIPLE OF PROPORTIONAL GOVERNANCE</a:t>
            </a:r>
          </a:p>
          <a:p>
            <a:pPr>
              <a:spcBef>
                <a:spcPts val="400"/>
              </a:spcBef>
              <a:defRPr sz="1200">
                <a:solidFill>
                  <a:srgbClr val="172B4D"/>
                </a:solidFill>
                <a:latin typeface="Segoe UI"/>
              </a:defRPr>
            </a:pPr>
            <a:r>
              <a:t>The level of release gating must align to feature risk, complexity, and operational impact. Pre-GA (LA &amp; Open Beta) phases are optional and variable. The PM determines if Phase 2 is required based on features.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72B4D"/>
                </a:solidFill>
                <a:latin typeface="Segoe UI"/>
              </a:defRPr>
            </a:pPr>
            <a:r>
              <a:t>90-Day Rollout Execution: Pilot → Learn →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E6C84"/>
                </a:solidFill>
                <a:latin typeface="Segoe UI"/>
              </a:defRPr>
            </a:pPr>
            <a:r>
              <a:t>No big-bang mandate. Build trust through service, then scale on proven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A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3108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AB00"/>
                </a:solidFill>
                <a:latin typeface="Segoe UI"/>
              </a:defRPr>
            </a:pPr>
            <a:r>
              <a:t>PHASE 1</a:t>
            </a:r>
          </a:p>
          <a:p>
            <a:pPr>
              <a:defRPr sz="1800" b="1">
                <a:solidFill>
                  <a:srgbClr val="172B4D"/>
                </a:solidFill>
                <a:latin typeface="Segoe UI"/>
              </a:defRPr>
            </a:pPr>
            <a:r>
              <a:t>Days 1–30</a:t>
            </a:r>
          </a:p>
          <a:p>
            <a:pPr>
              <a:spcAft>
                <a:spcPts val="800"/>
              </a:spcAft>
              <a:defRPr sz="1300" i="1">
                <a:solidFill>
                  <a:srgbClr val="5E6C84"/>
                </a:solidFill>
                <a:latin typeface="Segoe UI"/>
              </a:defRPr>
            </a:pPr>
            <a:r>
              <a:t>Listen &amp; Align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1:1 listening sessions (8–10 PMs)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Shadow EAP/LA release cycles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Map informal processes in use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Identify proto-champions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Select pilots: 1 Std + 1 AI release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5212080"/>
            <a:ext cx="3108960" cy="640080"/>
          </a:xfrm>
          <a:prstGeom prst="roundRect">
            <a:avLst/>
          </a:prstGeom>
          <a:solidFill>
            <a:srgbClr val="FFF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212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72B4D"/>
                </a:solidFill>
                <a:latin typeface="Segoe UI"/>
              </a:defRPr>
            </a:pPr>
            <a:r>
              <a:t>Friction map + pilot cohort confirmed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37360"/>
            <a:ext cx="3108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2CC"/>
                </a:solidFill>
                <a:latin typeface="Segoe UI"/>
              </a:defRPr>
            </a:pPr>
            <a:r>
              <a:t>PHASE 2</a:t>
            </a:r>
          </a:p>
          <a:p>
            <a:pPr>
              <a:defRPr sz="1800" b="1">
                <a:solidFill>
                  <a:srgbClr val="172B4D"/>
                </a:solidFill>
                <a:latin typeface="Segoe UI"/>
              </a:defRPr>
            </a:pPr>
            <a:r>
              <a:t>Days 31–60</a:t>
            </a:r>
          </a:p>
          <a:p>
            <a:pPr>
              <a:spcAft>
                <a:spcPts val="800"/>
              </a:spcAft>
              <a:defRPr sz="1300" i="1">
                <a:solidFill>
                  <a:srgbClr val="5E6C84"/>
                </a:solidFill>
                <a:latin typeface="Segoe UI"/>
              </a:defRPr>
            </a:pPr>
            <a:r>
              <a:t>Pilot &amp; Refine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Run 2–3 live CuCP pilots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I act as embedded CuCP Concierge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Weekly retros — cut admin overhead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Capture before/after evidence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Activate PM champions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5212080"/>
            <a:ext cx="3108960" cy="640080"/>
          </a:xfrm>
          <a:prstGeom prst="roundRect">
            <a:avLst/>
          </a:prstGeom>
          <a:solidFill>
            <a:srgbClr val="DE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5212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52CC"/>
                </a:solidFill>
                <a:latin typeface="Segoe UI"/>
              </a:defRPr>
            </a:pPr>
            <a:r>
              <a:t>Playbook v1.0 + champion stories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6B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1737360"/>
            <a:ext cx="3108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6B37E"/>
                </a:solidFill>
                <a:latin typeface="Segoe UI"/>
              </a:defRPr>
            </a:pPr>
            <a:r>
              <a:t>PHASE 3</a:t>
            </a:r>
          </a:p>
          <a:p>
            <a:pPr>
              <a:defRPr sz="1800" b="1">
                <a:solidFill>
                  <a:srgbClr val="172B4D"/>
                </a:solidFill>
                <a:latin typeface="Segoe UI"/>
              </a:defRPr>
            </a:pPr>
            <a:r>
              <a:t>Days 61–90</a:t>
            </a:r>
          </a:p>
          <a:p>
            <a:pPr>
              <a:spcAft>
                <a:spcPts val="800"/>
              </a:spcAft>
              <a:defRPr sz="1300" i="1">
                <a:solidFill>
                  <a:srgbClr val="5E6C84"/>
                </a:solidFill>
                <a:latin typeface="Segoe UI"/>
              </a:defRPr>
            </a:pPr>
            <a:r>
              <a:t>Scale &amp; Institutionalise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All-hands enablement session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Self-serve KB + templates live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#cucp-support + office hours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Admin tasks automated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•  Leadership dashboard live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5212080"/>
            <a:ext cx="3108960" cy="640080"/>
          </a:xfrm>
          <a:prstGeom prst="roundRect">
            <a:avLst/>
          </a:prstGeom>
          <a:solidFill>
            <a:srgbClr val="36B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5212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All PMs enabled · tracking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72B4D"/>
                </a:solidFill>
                <a:latin typeface="Segoe UI"/>
              </a:defRPr>
            </a:pPr>
            <a:r>
              <a:t>Enablement &amp; Support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E6C84"/>
                </a:solidFill>
                <a:latin typeface="Segoe UI"/>
              </a:defRPr>
            </a:pPr>
            <a:r>
              <a:t>Four pillars that make CuCP stupidly easy to run — before it becomes expected.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72B4D"/>
                </a:solidFill>
                <a:latin typeface="Segoe UI"/>
              </a:defRPr>
            </a:pPr>
            <a:r>
              <a:t>🎯  CuCP Concierge (Days 1–60)</a:t>
            </a:r>
          </a:p>
          <a:p>
            <a:pPr>
              <a:spcBef>
                <a:spcPts val="600"/>
              </a:spcBef>
              <a:defRPr sz="1200">
                <a:solidFill>
                  <a:srgbClr val="5E6C84"/>
                </a:solidFill>
                <a:latin typeface="Segoe UI"/>
              </a:defRPr>
            </a:pPr>
            <a:r>
              <a:t>I act as the operational support for pilot PMs. They learn the process; I handle templates, customer invites, and exit criteria tracking. PM overhead: near zero.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2286000" cy="320040"/>
          </a:xfrm>
          <a:prstGeom prst="roundRect">
            <a:avLst/>
          </a:prstGeom>
          <a:solidFill>
            <a:srgbClr val="DE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52CC"/>
                </a:solidFill>
                <a:latin typeface="Segoe UI"/>
              </a:defRPr>
            </a:pPr>
            <a:r>
              <a:t>High-touch during pilot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72B4D"/>
                </a:solidFill>
                <a:latin typeface="Segoe UI"/>
              </a:defRPr>
            </a:pPr>
            <a:r>
              <a:t>📋  Playbook + Cheat Sheets</a:t>
            </a:r>
          </a:p>
          <a:p>
            <a:pPr>
              <a:spcBef>
                <a:spcPts val="600"/>
              </a:spcBef>
              <a:defRPr sz="1200">
                <a:solidFill>
                  <a:srgbClr val="5E6C84"/>
                </a:solidFill>
                <a:latin typeface="Segoe UI"/>
              </a:defRPr>
            </a:pPr>
            <a:r>
              <a:t>Two 1-page cheat sheets: Standard capability path and AI capability path. Separate because their pre-GA goals, cohort sizes, and exit criteria differ meaningfully.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108960"/>
            <a:ext cx="2286000" cy="320040"/>
          </a:xfrm>
          <a:prstGeom prst="roundRect">
            <a:avLst/>
          </a:prstGeom>
          <a:solidFill>
            <a:srgbClr val="DE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108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52CC"/>
                </a:solidFill>
                <a:latin typeface="Segoe UI"/>
              </a:defRPr>
            </a:pPr>
            <a:r>
              <a:t>Self-serve from Day 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2336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72B4D"/>
                </a:solidFill>
                <a:latin typeface="Segoe UI"/>
              </a:defRPr>
            </a:pPr>
            <a:r>
              <a:t>💬  #cucp-support + Office Hours</a:t>
            </a:r>
          </a:p>
          <a:p>
            <a:pPr>
              <a:spcBef>
                <a:spcPts val="600"/>
              </a:spcBef>
              <a:defRPr sz="1200">
                <a:solidFill>
                  <a:srgbClr val="5E6C84"/>
                </a:solidFill>
                <a:latin typeface="Segoe UI"/>
              </a:defRPr>
            </a:pPr>
            <a:r>
              <a:t>Live Slack channel for real-time questions. Weekly 30-min open office hours for the first 90 days. PMs get answers in minutes, not days — reduces perceived friction.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394960"/>
            <a:ext cx="2286000" cy="320040"/>
          </a:xfrm>
          <a:prstGeom prst="roundRect">
            <a:avLst/>
          </a:prstGeom>
          <a:solidFill>
            <a:srgbClr val="DE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52CC"/>
                </a:solidFill>
                <a:latin typeface="Segoe UI"/>
              </a:defRPr>
            </a:pPr>
            <a:r>
              <a:t>Async + sync support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02336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72B4D"/>
                </a:solidFill>
                <a:latin typeface="Segoe UI"/>
              </a:defRPr>
            </a:pPr>
            <a:r>
              <a:t>🏆  Champion-Led Rollout</a:t>
            </a:r>
          </a:p>
          <a:p>
            <a:pPr>
              <a:spcBef>
                <a:spcPts val="600"/>
              </a:spcBef>
              <a:defRPr sz="1200">
                <a:solidFill>
                  <a:srgbClr val="5E6C84"/>
                </a:solidFill>
                <a:latin typeface="Segoe UI"/>
              </a:defRPr>
            </a:pPr>
            <a:r>
              <a:t>Pilot PMs present at the all-hands enablement session — not me. Peer stories are far more credible than top-down messaging for converting sceptics.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5394960"/>
            <a:ext cx="2286000" cy="320040"/>
          </a:xfrm>
          <a:prstGeom prst="roundRect">
            <a:avLst/>
          </a:prstGeom>
          <a:solidFill>
            <a:srgbClr val="DE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52CC"/>
                </a:solidFill>
                <a:latin typeface="Segoe UI"/>
              </a:defRPr>
            </a:pPr>
            <a:r>
              <a:t>Peer credibility &gt; authority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72B4D"/>
                </a:solidFill>
                <a:latin typeface="Segoe UI"/>
              </a:defRPr>
            </a:pPr>
            <a:r>
              <a:t>Measuring Initial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E6C84"/>
                </a:solidFill>
                <a:latin typeface="Segoe UI"/>
              </a:defRPr>
            </a:pPr>
            <a:r>
              <a:t>Six metrics prove the rollout is working. One leading indicator matters most in the first 90 days.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1645920"/>
                <a:gridCol w="2651760"/>
                <a:gridCol w="1463040"/>
              </a:tblGrid>
              <a:tr h="58782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5E6C84"/>
                          </a:solidFill>
                          <a:latin typeface="Segoe UI"/>
                        </a:defRPr>
                      </a:pPr>
                      <a:r>
                        <a:t>KPI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5E6C84"/>
                          </a:solidFill>
                          <a:latin typeface="Segoe U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5E6C84"/>
                          </a:solidFill>
                          <a:latin typeface="Segoe UI"/>
                        </a:defRPr>
                      </a:pPr>
                      <a:r>
                        <a:t>DAY 90 TARGET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5E6C84"/>
                          </a:solidFill>
                          <a:latin typeface="Segoe UI"/>
                        </a:defRPr>
                      </a:pPr>
                      <a:r>
                        <a:t>HOW MEASURED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5E6C84"/>
                          </a:solidFill>
                          <a:latin typeface="Segoe U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⭐ PM Satisfaction Score — "Is CuCP helping?"</a:t>
                      </a:r>
                    </a:p>
                  </a:txBody>
                  <a:tcPr>
                    <a:solidFill>
                      <a:srgbClr val="FFF0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0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≥ 4.0 / 5.0</a:t>
                      </a:r>
                    </a:p>
                  </a:txBody>
                  <a:tcPr>
                    <a:solidFill>
                      <a:srgbClr val="FFF0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Post-pilot survey</a:t>
                      </a:r>
                    </a:p>
                  </a:txBody>
                  <a:tcPr>
                    <a:solidFill>
                      <a:srgbClr val="FFF0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6B37E"/>
                          </a:solidFill>
                          <a:latin typeface="Segoe UI"/>
                        </a:defRPr>
                      </a:pPr>
                      <a:r>
                        <a:t>LEADING</a:t>
                      </a:r>
                    </a:p>
                  </a:txBody>
                  <a:tcPr>
                    <a:solidFill>
                      <a:srgbClr val="FFF0B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% eligible releases using CuCP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0% (ad-hoc)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≥ 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Release tracker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052CC"/>
                          </a:solidFill>
                          <a:latin typeface="Segoe UI"/>
                        </a:defRPr>
                      </a:pPr>
                      <a:r>
                        <a:t>LAGGING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EAP → GA cycle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Measure Days 1–30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No regression; –10%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Release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052CC"/>
                          </a:solidFill>
                          <a:latin typeface="Segoe UI"/>
                        </a:defRPr>
                      </a:pPr>
                      <a:r>
                        <a:t>LAGGING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Definition drift incidents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Unmeasured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Tracked; 0 in pilots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EAP/LA retros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6B37E"/>
                          </a:solidFill>
                          <a:latin typeface="Segoe UI"/>
                        </a:defRPr>
                      </a:pPr>
                      <a:r>
                        <a:t>LEADING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Customer participation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≥ 70% invited engage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CuCP tracker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052CC"/>
                          </a:solidFill>
                          <a:latin typeface="Segoe UI"/>
                        </a:defRPr>
                      </a:pPr>
                      <a:r>
                        <a:t>LAGGING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PM admin time per release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&lt; 2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172B4D"/>
                          </a:solidFill>
                          <a:latin typeface="Segoe UI"/>
                        </a:defRPr>
                      </a:pPr>
                      <a:r>
                        <a:t>PM self-report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36B37E"/>
                          </a:solidFill>
                          <a:latin typeface="Segoe UI"/>
                        </a:defRPr>
                      </a:pPr>
                      <a:r>
                        <a:t>LEADING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AB00"/>
                </a:solidFill>
                <a:latin typeface="Segoe UI"/>
              </a:defRPr>
            </a:pPr>
            <a:r>
              <a:t>⭐ Key takeaway: If PMs feel CuCP helps — scaling is pull, not push. Fix the playbook before mandating.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72B4D"/>
                </a:solidFill>
                <a:latin typeface="Segoe UI"/>
              </a:defRPr>
            </a:pPr>
            <a:r>
              <a:t>What Day 90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E6C84"/>
                </a:solidFill>
                <a:latin typeface="Segoe UI"/>
              </a:defRPr>
            </a:pPr>
            <a:r>
              <a:t>Three outcomes that prove the CuCP rollout succeeded — and what I need from leadership to get there.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2CC"/>
                </a:solidFill>
                <a:latin typeface="Segoe UI"/>
              </a:defRPr>
            </a:pPr>
            <a:r>
              <a:t>EVIDENCE OF SUCCESS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✓  ≥ 50% eligible releases running CuCP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✓  PM satisfaction score ≥ 4.0 / 5.0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✓  2–3 champion PMs advocating internally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✓  Self-serve KB live — zero dependency on 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2CC"/>
                </a:solidFill>
                <a:latin typeface="Segoe UI"/>
              </a:defRPr>
            </a:pPr>
            <a:r>
              <a:t>PROPORTIONAL GOVERNANCE PRINCIPLE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✓  Days 1–30: Observe only, map release landscape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✓  Days 31–60: Voluntary pilot, embedding Concierge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✓  Days 61–90: Clear expectation for eligible cohorts</a:t>
            </a:r>
          </a:p>
          <a:p>
            <a:pPr>
              <a:spcAft>
                <a:spcPts val="400"/>
              </a:spcAft>
              <a:defRPr sz="1200">
                <a:solidFill>
                  <a:srgbClr val="172B4D"/>
                </a:solidFill>
                <a:latin typeface="Segoe UI"/>
              </a:defRPr>
            </a:pPr>
            <a:r>
              <a:t>✓  Day 90+: Data-backed mandate, confirmed by feedback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DEEBFF"/>
          </a:solidFill>
          <a:ln w="12700">
            <a:solidFill>
              <a:srgbClr val="005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52CC"/>
                </a:solidFill>
                <a:latin typeface="Segoe UI"/>
              </a:defRPr>
            </a:pPr>
            <a:r>
              <a:t>MY ASK OF P&amp;T LEADERSHIP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24688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292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B4D"/>
                </a:solidFill>
                <a:latin typeface="Segoe UI"/>
              </a:defRPr>
            </a:pPr>
            <a:r>
              <a:t>🛡️ Air cover during pilot — no forced mandate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5029200"/>
            <a:ext cx="24688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50292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B4D"/>
                </a:solidFill>
                <a:latin typeface="Segoe UI"/>
              </a:defRPr>
            </a:pPr>
            <a:r>
              <a:t>🎙️ Exec sponsor for all-hands session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5029200"/>
            <a:ext cx="24688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59" y="50292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B4D"/>
                </a:solidFill>
                <a:latin typeface="Segoe UI"/>
              </a:defRPr>
            </a:pPr>
            <a:r>
              <a:t>🔗 Access to 2–3 willing pilot PMs in Week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59" y="5029200"/>
            <a:ext cx="24688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1080" y="50292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72B4D"/>
                </a:solidFill>
                <a:latin typeface="Segoe UI"/>
              </a:defRPr>
            </a:pPr>
            <a:r>
              <a:t>📊 Release log access for baseline measurement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