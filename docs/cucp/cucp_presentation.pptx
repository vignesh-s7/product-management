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09728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52CC"/>
                </a:solidFill>
                <a:latin typeface="Segoe UI"/>
              </a:defRPr>
            </a:pPr>
            <a:r>
              <a:t>COUPA · SR. LEAD, P&amp;T OPERATIONS · 90-DAY PLAN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554480"/>
            <a:ext cx="1371600" cy="54864"/>
          </a:xfrm>
          <a:prstGeom prst="rect">
            <a:avLst/>
          </a:prstGeom>
          <a:solidFill>
            <a:srgbClr val="0052CC"/>
          </a:solidFill>
          <a:ln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172B4D"/>
                </a:solidFill>
                <a:latin typeface="Segoe UI"/>
              </a:defRPr>
            </a:pPr>
            <a:r>
              <a:t>Turning the CuCP Framework</a:t>
            </a:r>
            <a:br/>
            <a:r>
              <a:t>into Adopted Reality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5E6C84"/>
                </a:solidFill>
                <a:latin typeface="Segoe UI"/>
              </a:defRPr>
            </a:pPr>
            <a:r>
              <a:t>A 90-day plan to implement and scale the Customer Collaboration Program — from paper framework to predictable launch engine.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7548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E6C84"/>
                </a:solidFill>
                <a:latin typeface="Segoe UI"/>
              </a:defRPr>
            </a:pPr>
            <a:r>
              <a:t>PRESENTED BY</a:t>
            </a:r>
          </a:p>
          <a:p>
            <a:pPr>
              <a:defRPr sz="1300" b="1">
                <a:solidFill>
                  <a:srgbClr val="172B4D"/>
                </a:solidFill>
                <a:latin typeface="Segoe UI"/>
              </a:defRPr>
            </a:pPr>
            <a:r>
              <a:t>Vittobha Vignesh 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39" y="47548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E6C84"/>
                </a:solidFill>
                <a:latin typeface="Segoe UI"/>
              </a:defRPr>
            </a:pPr>
            <a:r>
              <a:t>ROLE</a:t>
            </a:r>
          </a:p>
          <a:p>
            <a:pPr>
              <a:defRPr sz="1300" b="1">
                <a:solidFill>
                  <a:srgbClr val="172B4D"/>
                </a:solidFill>
                <a:latin typeface="Segoe UI"/>
              </a:defRPr>
            </a:pPr>
            <a:r>
              <a:t>Sr. Lead, P&amp;T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59" y="47548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E6C84"/>
                </a:solidFill>
                <a:latin typeface="Segoe UI"/>
              </a:defRPr>
            </a:pPr>
            <a:r>
              <a:t>PROGRAMME</a:t>
            </a:r>
          </a:p>
          <a:p>
            <a:pPr>
              <a:defRPr sz="1300" b="1">
                <a:solidFill>
                  <a:srgbClr val="172B4D"/>
                </a:solidFill>
                <a:latin typeface="Segoe UI"/>
              </a:defRPr>
            </a:pPr>
            <a:r>
              <a:t>Customer Collaboration (CuCP)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475488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E6C84"/>
                </a:solidFill>
                <a:latin typeface="Segoe UI"/>
              </a:defRPr>
            </a:pPr>
            <a:r>
              <a:t>SCOPE</a:t>
            </a:r>
          </a:p>
          <a:p>
            <a:pPr>
              <a:defRPr sz="1300" b="1">
                <a:solidFill>
                  <a:srgbClr val="172B4D"/>
                </a:solidFill>
                <a:latin typeface="Segoe UI"/>
              </a:defRPr>
            </a:pPr>
            <a:r>
              <a:t>Days 1–90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72B4D"/>
                </a:solidFill>
                <a:latin typeface="Segoe UI"/>
              </a:defRPr>
            </a:pPr>
            <a:r>
              <a:t>The Challenge — and the Reframe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E6C84"/>
                </a:solidFill>
                <a:latin typeface="Segoe UI"/>
              </a:defRPr>
            </a:pPr>
            <a:r>
              <a:t>Change management starts with understanding the resistance, then flipping the narrative.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56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5630"/>
                </a:solidFill>
                <a:latin typeface="Segoe UI"/>
              </a:defRPr>
            </a:pPr>
            <a:r>
              <a:t>THE PROBLEM: FRAGMENTED EXECUTION</a:t>
            </a:r>
          </a:p>
          <a:p>
            <a:pPr>
              <a:spcAft>
                <a:spcPts val="800"/>
              </a:spcAft>
              <a:defRPr sz="1300">
                <a:solidFill>
                  <a:srgbClr val="172B4D"/>
                </a:solidFill>
                <a:latin typeface="Segoe UI"/>
              </a:defRPr>
            </a:pPr>
            <a:r>
              <a:t>•  Ad-hoc EAP/LA engagement, no standard process</a:t>
            </a:r>
          </a:p>
          <a:p>
            <a:pPr>
              <a:spcAft>
                <a:spcPts val="800"/>
              </a:spcAft>
              <a:defRPr sz="1300">
                <a:solidFill>
                  <a:srgbClr val="172B4D"/>
                </a:solidFill>
                <a:latin typeface="Segoe UI"/>
              </a:defRPr>
            </a:pPr>
            <a:r>
              <a:t>•  "Definition drift" — scope shifts before GA</a:t>
            </a:r>
          </a:p>
          <a:p>
            <a:pPr>
              <a:spcAft>
                <a:spcPts val="800"/>
              </a:spcAft>
              <a:defRPr sz="1300">
                <a:solidFill>
                  <a:srgbClr val="172B4D"/>
                </a:solidFill>
                <a:latin typeface="Segoe UI"/>
              </a:defRPr>
            </a:pPr>
            <a:r>
              <a:t>•  No exit criteria → risky launch decisions</a:t>
            </a:r>
          </a:p>
          <a:p>
            <a:pPr>
              <a:spcAft>
                <a:spcPts val="800"/>
              </a:spcAft>
              <a:defRPr sz="1300">
                <a:solidFill>
                  <a:srgbClr val="172B4D"/>
                </a:solidFill>
                <a:latin typeface="Segoe UI"/>
              </a:defRPr>
            </a:pPr>
            <a:r>
              <a:t>•  PMs see CuCP as admin overhead slowing velocity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36B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828800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6B37E"/>
                </a:solidFill>
                <a:latin typeface="Segoe UI"/>
              </a:defRPr>
            </a:pPr>
            <a:r>
              <a:t>STRATEGY: EARN ADOPTION, DON'T MANDATE IT</a:t>
            </a:r>
          </a:p>
          <a:p>
            <a:pPr>
              <a:spcAft>
                <a:spcPts val="800"/>
              </a:spcAft>
              <a:defRPr sz="1300">
                <a:solidFill>
                  <a:srgbClr val="172B4D"/>
                </a:solidFill>
                <a:latin typeface="Segoe UI"/>
              </a:defRPr>
            </a:pPr>
            <a:r>
              <a:t>•  Lead with PM pain — not programme goals</a:t>
            </a:r>
          </a:p>
          <a:p>
            <a:pPr>
              <a:spcAft>
                <a:spcPts val="800"/>
              </a:spcAft>
              <a:defRPr sz="1300">
                <a:solidFill>
                  <a:srgbClr val="172B4D"/>
                </a:solidFill>
                <a:latin typeface="Segoe UI"/>
              </a:defRPr>
            </a:pPr>
            <a:r>
              <a:t>•  Find proto-champions already doing EAP work</a:t>
            </a:r>
          </a:p>
          <a:p>
            <a:pPr>
              <a:spcAft>
                <a:spcPts val="800"/>
              </a:spcAft>
              <a:defRPr sz="1300">
                <a:solidFill>
                  <a:srgbClr val="172B4D"/>
                </a:solidFill>
                <a:latin typeface="Segoe UI"/>
              </a:defRPr>
            </a:pPr>
            <a:r>
              <a:t>•  Make first experience frictionless — I absorb the admin</a:t>
            </a:r>
          </a:p>
          <a:p>
            <a:pPr>
              <a:spcAft>
                <a:spcPts val="800"/>
              </a:spcAft>
              <a:defRPr sz="1300">
                <a:solidFill>
                  <a:srgbClr val="172B4D"/>
                </a:solidFill>
                <a:latin typeface="Segoe UI"/>
              </a:defRPr>
            </a:pPr>
            <a:r>
              <a:t>•  Their story converts sceptics, mine doesn't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54880"/>
            <a:ext cx="10698480" cy="1280160"/>
          </a:xfrm>
          <a:prstGeom prst="roundRect">
            <a:avLst/>
          </a:prstGeom>
          <a:solidFill>
            <a:srgbClr val="DEEBFF"/>
          </a:solidFill>
          <a:ln w="12700"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8463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52CC"/>
                </a:solidFill>
                <a:latin typeface="Segoe UI"/>
              </a:defRPr>
            </a:pPr>
            <a:r>
              <a:t>The message that lands: "CuCP is your evidence kit — not a compliance checklist."</a:t>
            </a:r>
          </a:p>
          <a:p>
            <a:pPr>
              <a:defRPr sz="1300">
                <a:solidFill>
                  <a:srgbClr val="172B4D"/>
                </a:solidFill>
                <a:latin typeface="Segoe UI"/>
              </a:defRPr>
            </a:pPr>
            <a:r>
              <a:t>Structured EAP data protects PMs at GA. It answers "how do we know this is ready?" with customer signal, not gut feel.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72B4D"/>
                </a:solidFill>
                <a:latin typeface="Segoe UI"/>
              </a:defRPr>
            </a:pPr>
            <a:r>
              <a:t>90-Day Rollout: Pilot → Learn → Scale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E6C84"/>
                </a:solidFill>
                <a:latin typeface="Segoe UI"/>
              </a:defRPr>
            </a:pPr>
            <a:r>
              <a:t>No big-bang mandate. Build trust through service, then scale on proven evidence.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38328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A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AB00"/>
                </a:solidFill>
                <a:latin typeface="Segoe UI"/>
              </a:defRPr>
            </a:pPr>
            <a:r>
              <a:t>PHASE 1</a:t>
            </a:r>
          </a:p>
          <a:p>
            <a:pPr>
              <a:defRPr sz="1800" b="1">
                <a:solidFill>
                  <a:srgbClr val="172B4D"/>
                </a:solidFill>
                <a:latin typeface="Segoe UI"/>
              </a:defRPr>
            </a:pPr>
            <a:r>
              <a:t>Days 1–30</a:t>
            </a:r>
          </a:p>
          <a:p>
            <a:pPr>
              <a:spcAft>
                <a:spcPts val="800"/>
              </a:spcAft>
              <a:defRPr sz="1300" i="1">
                <a:solidFill>
                  <a:srgbClr val="5E6C84"/>
                </a:solidFill>
                <a:latin typeface="Segoe UI"/>
              </a:defRPr>
            </a:pPr>
            <a:r>
              <a:t>Listen &amp; Align</a:t>
            </a:r>
          </a:p>
          <a:p>
            <a:pPr>
              <a:spcAft>
                <a:spcPts val="400"/>
              </a:spcAft>
              <a:defRPr sz="1200">
                <a:solidFill>
                  <a:srgbClr val="172B4D"/>
                </a:solidFill>
                <a:latin typeface="Segoe UI"/>
              </a:defRPr>
            </a:pPr>
            <a:r>
              <a:t>•  1:1 listening sessions (8–10 PMs)</a:t>
            </a:r>
          </a:p>
          <a:p>
            <a:pPr>
              <a:spcAft>
                <a:spcPts val="400"/>
              </a:spcAft>
              <a:defRPr sz="1200">
                <a:solidFill>
                  <a:srgbClr val="172B4D"/>
                </a:solidFill>
                <a:latin typeface="Segoe UI"/>
              </a:defRPr>
            </a:pPr>
            <a:r>
              <a:t>•  Shadow 2 live EAP/LA cycles</a:t>
            </a:r>
          </a:p>
          <a:p>
            <a:pPr>
              <a:spcAft>
                <a:spcPts val="400"/>
              </a:spcAft>
              <a:defRPr sz="1200">
                <a:solidFill>
                  <a:srgbClr val="172B4D"/>
                </a:solidFill>
                <a:latin typeface="Segoe UI"/>
              </a:defRPr>
            </a:pPr>
            <a:r>
              <a:t>•  Map informal processes in use</a:t>
            </a:r>
          </a:p>
          <a:p>
            <a:pPr>
              <a:spcAft>
                <a:spcPts val="400"/>
              </a:spcAft>
              <a:defRPr sz="1200">
                <a:solidFill>
                  <a:srgbClr val="172B4D"/>
                </a:solidFill>
                <a:latin typeface="Segoe UI"/>
              </a:defRPr>
            </a:pPr>
            <a:r>
              <a:t>•  Identify proto-champions</a:t>
            </a:r>
          </a:p>
          <a:p>
            <a:pPr>
              <a:spcAft>
                <a:spcPts val="400"/>
              </a:spcAft>
              <a:defRPr sz="1200">
                <a:solidFill>
                  <a:srgbClr val="172B4D"/>
                </a:solidFill>
                <a:latin typeface="Segoe UI"/>
              </a:defRPr>
            </a:pPr>
            <a:r>
              <a:t>•  Select pilot: 1 Standard + 1 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5212080"/>
            <a:ext cx="3108960" cy="640080"/>
          </a:xfrm>
          <a:prstGeom prst="roundRect">
            <a:avLst/>
          </a:prstGeom>
          <a:solidFill>
            <a:srgbClr val="FFF0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21208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72B4D"/>
                </a:solidFill>
                <a:latin typeface="Segoe UI"/>
              </a:defRPr>
            </a:pPr>
            <a:r>
              <a:t>Friction map + pilot cohort confirmed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45920"/>
            <a:ext cx="338328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737360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52CC"/>
                </a:solidFill>
                <a:latin typeface="Segoe UI"/>
              </a:defRPr>
            </a:pPr>
            <a:r>
              <a:t>PHASE 2</a:t>
            </a:r>
          </a:p>
          <a:p>
            <a:pPr>
              <a:defRPr sz="1800" b="1">
                <a:solidFill>
                  <a:srgbClr val="172B4D"/>
                </a:solidFill>
                <a:latin typeface="Segoe UI"/>
              </a:defRPr>
            </a:pPr>
            <a:r>
              <a:t>Days 31–60</a:t>
            </a:r>
          </a:p>
          <a:p>
            <a:pPr>
              <a:spcAft>
                <a:spcPts val="800"/>
              </a:spcAft>
              <a:defRPr sz="1300" i="1">
                <a:solidFill>
                  <a:srgbClr val="5E6C84"/>
                </a:solidFill>
                <a:latin typeface="Segoe UI"/>
              </a:defRPr>
            </a:pPr>
            <a:r>
              <a:t>Pilot &amp; Refine</a:t>
            </a:r>
          </a:p>
          <a:p>
            <a:pPr>
              <a:spcAft>
                <a:spcPts val="400"/>
              </a:spcAft>
              <a:defRPr sz="1200">
                <a:solidFill>
                  <a:srgbClr val="172B4D"/>
                </a:solidFill>
                <a:latin typeface="Segoe UI"/>
              </a:defRPr>
            </a:pPr>
            <a:r>
              <a:t>•  Run 2–3 live CuCP pilots</a:t>
            </a:r>
          </a:p>
          <a:p>
            <a:pPr>
              <a:spcAft>
                <a:spcPts val="400"/>
              </a:spcAft>
              <a:defRPr sz="1200">
                <a:solidFill>
                  <a:srgbClr val="172B4D"/>
                </a:solidFill>
                <a:latin typeface="Segoe UI"/>
              </a:defRPr>
            </a:pPr>
            <a:r>
              <a:t>•  I act as embedded CuCP Concierge</a:t>
            </a:r>
          </a:p>
          <a:p>
            <a:pPr>
              <a:spcAft>
                <a:spcPts val="400"/>
              </a:spcAft>
              <a:defRPr sz="1200">
                <a:solidFill>
                  <a:srgbClr val="172B4D"/>
                </a:solidFill>
                <a:latin typeface="Segoe UI"/>
              </a:defRPr>
            </a:pPr>
            <a:r>
              <a:t>•  Weekly retros — cut admin overhead</a:t>
            </a:r>
          </a:p>
          <a:p>
            <a:pPr>
              <a:spcAft>
                <a:spcPts val="400"/>
              </a:spcAft>
              <a:defRPr sz="1200">
                <a:solidFill>
                  <a:srgbClr val="172B4D"/>
                </a:solidFill>
                <a:latin typeface="Segoe UI"/>
              </a:defRPr>
            </a:pPr>
            <a:r>
              <a:t>•  Capture before/after evidence</a:t>
            </a:r>
          </a:p>
          <a:p>
            <a:pPr>
              <a:spcAft>
                <a:spcPts val="400"/>
              </a:spcAft>
              <a:defRPr sz="1200">
                <a:solidFill>
                  <a:srgbClr val="172B4D"/>
                </a:solidFill>
                <a:latin typeface="Segoe UI"/>
              </a:defRPr>
            </a:pPr>
            <a:r>
              <a:t>•  Activate PM champions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5212080"/>
            <a:ext cx="3108960" cy="640080"/>
          </a:xfrm>
          <a:prstGeom prst="roundRect">
            <a:avLst/>
          </a:prstGeom>
          <a:solidFill>
            <a:srgbClr val="D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521208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052CC"/>
                </a:solidFill>
                <a:latin typeface="Segoe UI"/>
              </a:defRPr>
            </a:pPr>
            <a:r>
              <a:t>Playbook v1.0 + champion stories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645920"/>
            <a:ext cx="3383280" cy="4389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6B3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83879" y="1737360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6B37E"/>
                </a:solidFill>
                <a:latin typeface="Segoe UI"/>
              </a:defRPr>
            </a:pPr>
            <a:r>
              <a:t>PHASE 3</a:t>
            </a:r>
          </a:p>
          <a:p>
            <a:pPr>
              <a:defRPr sz="1800" b="1">
                <a:solidFill>
                  <a:srgbClr val="172B4D"/>
                </a:solidFill>
                <a:latin typeface="Segoe UI"/>
              </a:defRPr>
            </a:pPr>
            <a:r>
              <a:t>Days 61–90</a:t>
            </a:r>
          </a:p>
          <a:p>
            <a:pPr>
              <a:spcAft>
                <a:spcPts val="800"/>
              </a:spcAft>
              <a:defRPr sz="1300" i="1">
                <a:solidFill>
                  <a:srgbClr val="5E6C84"/>
                </a:solidFill>
                <a:latin typeface="Segoe UI"/>
              </a:defRPr>
            </a:pPr>
            <a:r>
              <a:t>Scale &amp; Institutionalise</a:t>
            </a:r>
          </a:p>
          <a:p>
            <a:pPr>
              <a:spcAft>
                <a:spcPts val="400"/>
              </a:spcAft>
              <a:defRPr sz="1200">
                <a:solidFill>
                  <a:srgbClr val="172B4D"/>
                </a:solidFill>
                <a:latin typeface="Segoe UI"/>
              </a:defRPr>
            </a:pPr>
            <a:r>
              <a:t>•  All-hands enablement session</a:t>
            </a:r>
          </a:p>
          <a:p>
            <a:pPr>
              <a:spcAft>
                <a:spcPts val="400"/>
              </a:spcAft>
              <a:defRPr sz="1200">
                <a:solidFill>
                  <a:srgbClr val="172B4D"/>
                </a:solidFill>
                <a:latin typeface="Segoe UI"/>
              </a:defRPr>
            </a:pPr>
            <a:r>
              <a:t>•  Self-serve KB + templates live</a:t>
            </a:r>
          </a:p>
          <a:p>
            <a:pPr>
              <a:spcAft>
                <a:spcPts val="400"/>
              </a:spcAft>
              <a:defRPr sz="1200">
                <a:solidFill>
                  <a:srgbClr val="172B4D"/>
                </a:solidFill>
                <a:latin typeface="Segoe UI"/>
              </a:defRPr>
            </a:pPr>
            <a:r>
              <a:t>•  #cucp-support + office hours</a:t>
            </a:r>
          </a:p>
          <a:p>
            <a:pPr>
              <a:spcAft>
                <a:spcPts val="400"/>
              </a:spcAft>
              <a:defRPr sz="1200">
                <a:solidFill>
                  <a:srgbClr val="172B4D"/>
                </a:solidFill>
                <a:latin typeface="Segoe UI"/>
              </a:defRPr>
            </a:pPr>
            <a:r>
              <a:t>•  Admin tasks automated</a:t>
            </a:r>
          </a:p>
          <a:p>
            <a:pPr>
              <a:spcAft>
                <a:spcPts val="400"/>
              </a:spcAft>
              <a:defRPr sz="1200">
                <a:solidFill>
                  <a:srgbClr val="172B4D"/>
                </a:solidFill>
                <a:latin typeface="Segoe UI"/>
              </a:defRPr>
            </a:pPr>
            <a:r>
              <a:t>•  Leadership dashboard live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5212080"/>
            <a:ext cx="3108960" cy="640080"/>
          </a:xfrm>
          <a:prstGeom prst="roundRect">
            <a:avLst/>
          </a:prstGeom>
          <a:solidFill>
            <a:srgbClr val="36B3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5212080"/>
            <a:ext cx="3108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All PMs enabled · tracking live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72B4D"/>
                </a:solidFill>
                <a:latin typeface="Segoe UI"/>
              </a:defRPr>
            </a:pPr>
            <a:r>
              <a:t>Enablement &amp; Support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E6C84"/>
                </a:solidFill>
                <a:latin typeface="Segoe UI"/>
              </a:defRPr>
            </a:pPr>
            <a:r>
              <a:t>Four pillars that make CuCP stupidly easy to run — before it becomes expected.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72B4D"/>
                </a:solidFill>
                <a:latin typeface="Segoe UI"/>
              </a:defRPr>
            </a:pPr>
            <a:r>
              <a:t>🎯  CuCP Concierge (Days 1–60)</a:t>
            </a:r>
          </a:p>
          <a:p>
            <a:pPr>
              <a:spcBef>
                <a:spcPts val="600"/>
              </a:spcBef>
              <a:defRPr sz="1200">
                <a:solidFill>
                  <a:srgbClr val="5E6C84"/>
                </a:solidFill>
                <a:latin typeface="Segoe UI"/>
              </a:defRPr>
            </a:pPr>
            <a:r>
              <a:t>I act as the operational support for pilot PMs. They learn the process; I handle templates, customer invites, and exit criteria tracking. PM overhead: near zero.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108960"/>
            <a:ext cx="2286000" cy="320040"/>
          </a:xfrm>
          <a:prstGeom prst="roundRect">
            <a:avLst/>
          </a:prstGeom>
          <a:solidFill>
            <a:srgbClr val="D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52CC"/>
                </a:solidFill>
                <a:latin typeface="Segoe UI"/>
              </a:defRPr>
            </a:pPr>
            <a:r>
              <a:t>High-touch during pilot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73736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72B4D"/>
                </a:solidFill>
                <a:latin typeface="Segoe UI"/>
              </a:defRPr>
            </a:pPr>
            <a:r>
              <a:t>📋  Playbook + Cheat Sheets</a:t>
            </a:r>
          </a:p>
          <a:p>
            <a:pPr>
              <a:spcBef>
                <a:spcPts val="600"/>
              </a:spcBef>
              <a:defRPr sz="1200">
                <a:solidFill>
                  <a:srgbClr val="5E6C84"/>
                </a:solidFill>
                <a:latin typeface="Segoe UI"/>
              </a:defRPr>
            </a:pPr>
            <a:r>
              <a:t>Two 1-page cheat sheets: Standard capability path and AI capability path. Separate because their pre-GA goals, cohort sizes, and exit criteria differ meaningfully.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108960"/>
            <a:ext cx="2286000" cy="320040"/>
          </a:xfrm>
          <a:prstGeom prst="roundRect">
            <a:avLst/>
          </a:prstGeom>
          <a:solidFill>
            <a:srgbClr val="D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3108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52CC"/>
                </a:solidFill>
                <a:latin typeface="Segoe UI"/>
              </a:defRPr>
            </a:pPr>
            <a:r>
              <a:t>Self-serve from Day 60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52120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2336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72B4D"/>
                </a:solidFill>
                <a:latin typeface="Segoe UI"/>
              </a:defRPr>
            </a:pPr>
            <a:r>
              <a:t>💬  #cucp-support + Office Hours</a:t>
            </a:r>
          </a:p>
          <a:p>
            <a:pPr>
              <a:spcBef>
                <a:spcPts val="600"/>
              </a:spcBef>
              <a:defRPr sz="1200">
                <a:solidFill>
                  <a:srgbClr val="5E6C84"/>
                </a:solidFill>
                <a:latin typeface="Segoe UI"/>
              </a:defRPr>
            </a:pPr>
            <a:r>
              <a:t>Live Slack channel for real-time questions. Weekly 30-min open office hours for the first 90 days. PMs get answers in minutes, not days — reduces perceived friction.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5394960"/>
            <a:ext cx="2286000" cy="320040"/>
          </a:xfrm>
          <a:prstGeom prst="roundRect">
            <a:avLst/>
          </a:prstGeom>
          <a:solidFill>
            <a:srgbClr val="D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394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52CC"/>
                </a:solidFill>
                <a:latin typeface="Segoe UI"/>
              </a:defRPr>
            </a:pPr>
            <a:r>
              <a:t>Async + sync support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931920"/>
            <a:ext cx="521208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023360"/>
            <a:ext cx="48463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72B4D"/>
                </a:solidFill>
                <a:latin typeface="Segoe UI"/>
              </a:defRPr>
            </a:pPr>
            <a:r>
              <a:t>🏆  Champion-Led Rollout</a:t>
            </a:r>
          </a:p>
          <a:p>
            <a:pPr>
              <a:spcBef>
                <a:spcPts val="600"/>
              </a:spcBef>
              <a:defRPr sz="1200">
                <a:solidFill>
                  <a:srgbClr val="5E6C84"/>
                </a:solidFill>
                <a:latin typeface="Segoe UI"/>
              </a:defRPr>
            </a:pPr>
            <a:r>
              <a:t>Pilot PMs present at the all-hands enablement session — not me. Peer stories are far more credible than top-down messaging for converting sceptics.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5394960"/>
            <a:ext cx="2286000" cy="320040"/>
          </a:xfrm>
          <a:prstGeom prst="roundRect">
            <a:avLst/>
          </a:prstGeom>
          <a:solidFill>
            <a:srgbClr val="DEE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5394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52CC"/>
                </a:solidFill>
                <a:latin typeface="Segoe UI"/>
              </a:defRPr>
            </a:pPr>
            <a:r>
              <a:t>Peer credibility &gt; authority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72B4D"/>
                </a:solidFill>
                <a:latin typeface="Segoe UI"/>
              </a:defRPr>
            </a:pPr>
            <a:r>
              <a:t>Measuring Initial Success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E6C84"/>
                </a:solidFill>
                <a:latin typeface="Segoe UI"/>
              </a:defRPr>
            </a:pPr>
            <a:r>
              <a:t>Six metrics prove the rollout is working. One leading indicator matters most in the first 90 days.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1463040"/>
                <a:gridCol w="1645920"/>
                <a:gridCol w="2651760"/>
                <a:gridCol w="1463040"/>
              </a:tblGrid>
              <a:tr h="58782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5E6C84"/>
                          </a:solidFill>
                          <a:latin typeface="Segoe UI"/>
                        </a:defRPr>
                      </a:pPr>
                      <a:r>
                        <a:t>KPI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5E6C84"/>
                          </a:solidFill>
                          <a:latin typeface="Segoe UI"/>
                        </a:defRPr>
                      </a:pPr>
                      <a:r>
                        <a:t>BASELINE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5E6C84"/>
                          </a:solidFill>
                          <a:latin typeface="Segoe UI"/>
                        </a:defRPr>
                      </a:pPr>
                      <a:r>
                        <a:t>DAY 90 TARGET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5E6C84"/>
                          </a:solidFill>
                          <a:latin typeface="Segoe UI"/>
                        </a:defRPr>
                      </a:pPr>
                      <a:r>
                        <a:t>HOW MEASURED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5E6C84"/>
                          </a:solidFill>
                          <a:latin typeface="Segoe UI"/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F4F5F7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72B4D"/>
                          </a:solidFill>
                          <a:latin typeface="Segoe UI"/>
                        </a:defRPr>
                      </a:pPr>
                      <a:r>
                        <a:t>⭐ PM Satisfaction Score — "Is CuCP helping?"</a:t>
                      </a:r>
                    </a:p>
                  </a:txBody>
                  <a:tcPr>
                    <a:solidFill>
                      <a:srgbClr val="FFF0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72B4D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0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72B4D"/>
                          </a:solidFill>
                          <a:latin typeface="Segoe UI"/>
                        </a:defRPr>
                      </a:pPr>
                      <a:r>
                        <a:t>≥ 4.0 / 5.0</a:t>
                      </a:r>
                    </a:p>
                  </a:txBody>
                  <a:tcPr>
                    <a:solidFill>
                      <a:srgbClr val="FFF0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72B4D"/>
                          </a:solidFill>
                          <a:latin typeface="Segoe UI"/>
                        </a:defRPr>
                      </a:pPr>
                      <a:r>
                        <a:t>Post-pilot survey</a:t>
                      </a:r>
                    </a:p>
                  </a:txBody>
                  <a:tcPr>
                    <a:solidFill>
                      <a:srgbClr val="FFF0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36B37E"/>
                          </a:solidFill>
                          <a:latin typeface="Segoe UI"/>
                        </a:defRPr>
                      </a:pPr>
                      <a:r>
                        <a:t>LEADING</a:t>
                      </a:r>
                    </a:p>
                  </a:txBody>
                  <a:tcPr>
                    <a:solidFill>
                      <a:srgbClr val="FFF0B5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72B4D"/>
                          </a:solidFill>
                          <a:latin typeface="Segoe UI"/>
                        </a:defRPr>
                      </a:pPr>
                      <a:r>
                        <a:t>% eligible releases using CuCP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72B4D"/>
                          </a:solidFill>
                          <a:latin typeface="Segoe UI"/>
                        </a:defRPr>
                      </a:pPr>
                      <a:r>
                        <a:t>0% (ad-hoc)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72B4D"/>
                          </a:solidFill>
                          <a:latin typeface="Segoe UI"/>
                        </a:defRPr>
                      </a:pPr>
                      <a:r>
                        <a:t>≥ 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72B4D"/>
                          </a:solidFill>
                          <a:latin typeface="Segoe UI"/>
                        </a:defRPr>
                      </a:pPr>
                      <a:r>
                        <a:t>Release tracker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052CC"/>
                          </a:solidFill>
                          <a:latin typeface="Segoe UI"/>
                        </a:defRPr>
                      </a:pPr>
                      <a:r>
                        <a:t>LAGGING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72B4D"/>
                          </a:solidFill>
                          <a:latin typeface="Segoe UI"/>
                        </a:defRPr>
                      </a:pPr>
                      <a:r>
                        <a:t>EAP → GA cycle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72B4D"/>
                          </a:solidFill>
                          <a:latin typeface="Segoe UI"/>
                        </a:defRPr>
                      </a:pPr>
                      <a:r>
                        <a:t>Measure Days 1–30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72B4D"/>
                          </a:solidFill>
                          <a:latin typeface="Segoe UI"/>
                        </a:defRPr>
                      </a:pPr>
                      <a:r>
                        <a:t>No regression; –10%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72B4D"/>
                          </a:solidFill>
                          <a:latin typeface="Segoe UI"/>
                        </a:defRPr>
                      </a:pPr>
                      <a:r>
                        <a:t>Release logs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052CC"/>
                          </a:solidFill>
                          <a:latin typeface="Segoe UI"/>
                        </a:defRPr>
                      </a:pPr>
                      <a:r>
                        <a:t>LAGGING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72B4D"/>
                          </a:solidFill>
                          <a:latin typeface="Segoe UI"/>
                        </a:defRPr>
                      </a:pPr>
                      <a:r>
                        <a:t>Definition drift incidents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72B4D"/>
                          </a:solidFill>
                          <a:latin typeface="Segoe UI"/>
                        </a:defRPr>
                      </a:pPr>
                      <a:r>
                        <a:t>Unmeasured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72B4D"/>
                          </a:solidFill>
                          <a:latin typeface="Segoe UI"/>
                        </a:defRPr>
                      </a:pPr>
                      <a:r>
                        <a:t>Tracked; 0 in pilots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72B4D"/>
                          </a:solidFill>
                          <a:latin typeface="Segoe UI"/>
                        </a:defRPr>
                      </a:pPr>
                      <a:r>
                        <a:t>EAP/LA retros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36B37E"/>
                          </a:solidFill>
                          <a:latin typeface="Segoe UI"/>
                        </a:defRPr>
                      </a:pPr>
                      <a:r>
                        <a:t>LEADING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72B4D"/>
                          </a:solidFill>
                          <a:latin typeface="Segoe UI"/>
                        </a:defRPr>
                      </a:pPr>
                      <a:r>
                        <a:t>Customer participation 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72B4D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72B4D"/>
                          </a:solidFill>
                          <a:latin typeface="Segoe UI"/>
                        </a:defRPr>
                      </a:pPr>
                      <a:r>
                        <a:t>≥ 70% invited engage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72B4D"/>
                          </a:solidFill>
                          <a:latin typeface="Segoe UI"/>
                        </a:defRPr>
                      </a:pPr>
                      <a:r>
                        <a:t>CuCP tracker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0052CC"/>
                          </a:solidFill>
                          <a:latin typeface="Segoe UI"/>
                        </a:defRPr>
                      </a:pPr>
                      <a:r>
                        <a:t>LAGGING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72B4D"/>
                          </a:solidFill>
                          <a:latin typeface="Segoe UI"/>
                        </a:defRPr>
                      </a:pPr>
                      <a:r>
                        <a:t>PM admin time per release cycle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72B4D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72B4D"/>
                          </a:solidFill>
                          <a:latin typeface="Segoe UI"/>
                        </a:defRPr>
                      </a:pPr>
                      <a:r>
                        <a:t>&lt; 2 hours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>
                          <a:solidFill>
                            <a:srgbClr val="172B4D"/>
                          </a:solidFill>
                          <a:latin typeface="Segoe UI"/>
                        </a:defRPr>
                      </a:pPr>
                      <a:r>
                        <a:t>PM self-report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36B37E"/>
                          </a:solidFill>
                          <a:latin typeface="Segoe UI"/>
                        </a:defRPr>
                      </a:pPr>
                      <a:r>
                        <a:t>LEADING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AB00"/>
                </a:solidFill>
                <a:latin typeface="Segoe UI"/>
              </a:defRPr>
            </a:pPr>
            <a:r>
              <a:t>⭐ Key takeaway: If PMs feel CuCP helps — scaling is pull, not push. Fix the playbook before mandating.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72B4D"/>
                </a:solidFill>
                <a:latin typeface="Segoe UI"/>
              </a:defRPr>
            </a:pPr>
            <a:r>
              <a:t>What Day 90 Looks Like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5E6C84"/>
                </a:solidFill>
                <a:latin typeface="Segoe UI"/>
              </a:defRPr>
            </a:pPr>
            <a:r>
              <a:t>Three outcomes that prove the CuCP rollout succeeded — and what I need from leadership to get there.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846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52CC"/>
                </a:solidFill>
                <a:latin typeface="Segoe UI"/>
              </a:defRPr>
            </a:pPr>
            <a:r>
              <a:t>EVIDENCE OF SUCCESS</a:t>
            </a:r>
          </a:p>
          <a:p>
            <a:pPr>
              <a:spcAft>
                <a:spcPts val="400"/>
              </a:spcAft>
              <a:defRPr sz="1200">
                <a:solidFill>
                  <a:srgbClr val="172B4D"/>
                </a:solidFill>
                <a:latin typeface="Segoe UI"/>
              </a:defRPr>
            </a:pPr>
            <a:r>
              <a:t>✓  ≥ 50% eligible releases running CuCP</a:t>
            </a:r>
          </a:p>
          <a:p>
            <a:pPr>
              <a:spcAft>
                <a:spcPts val="400"/>
              </a:spcAft>
              <a:defRPr sz="1200">
                <a:solidFill>
                  <a:srgbClr val="172B4D"/>
                </a:solidFill>
                <a:latin typeface="Segoe UI"/>
              </a:defRPr>
            </a:pPr>
            <a:r>
              <a:t>✓  PM satisfaction score ≥ 4.0 / 5.0</a:t>
            </a:r>
          </a:p>
          <a:p>
            <a:pPr>
              <a:spcAft>
                <a:spcPts val="400"/>
              </a:spcAft>
              <a:defRPr sz="1200">
                <a:solidFill>
                  <a:srgbClr val="172B4D"/>
                </a:solidFill>
                <a:latin typeface="Segoe UI"/>
              </a:defRPr>
            </a:pPr>
            <a:r>
              <a:t>✓  2–3 champion PMs advocating internally</a:t>
            </a:r>
          </a:p>
          <a:p>
            <a:pPr>
              <a:spcAft>
                <a:spcPts val="400"/>
              </a:spcAft>
              <a:defRPr sz="1200">
                <a:solidFill>
                  <a:srgbClr val="172B4D"/>
                </a:solidFill>
                <a:latin typeface="Segoe UI"/>
              </a:defRPr>
            </a:pPr>
            <a:r>
              <a:t>✓  Self-serve KB live — zero dependency on me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26517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48463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52CC"/>
                </a:solidFill>
                <a:latin typeface="Segoe UI"/>
              </a:defRPr>
            </a:pPr>
            <a:r>
              <a:t>PROPORTIONAL GOVERNANCE PRINCIPLE</a:t>
            </a:r>
          </a:p>
          <a:p>
            <a:pPr>
              <a:spcAft>
                <a:spcPts val="400"/>
              </a:spcAft>
              <a:defRPr sz="1200">
                <a:solidFill>
                  <a:srgbClr val="172B4D"/>
                </a:solidFill>
                <a:latin typeface="Segoe UI"/>
              </a:defRPr>
            </a:pPr>
            <a:r>
              <a:t>✓  Days 1–30: Observe only, map release landscape</a:t>
            </a:r>
          </a:p>
          <a:p>
            <a:pPr>
              <a:spcAft>
                <a:spcPts val="400"/>
              </a:spcAft>
              <a:defRPr sz="1200">
                <a:solidFill>
                  <a:srgbClr val="172B4D"/>
                </a:solidFill>
                <a:latin typeface="Segoe UI"/>
              </a:defRPr>
            </a:pPr>
            <a:r>
              <a:t>✓  Days 31–60: Voluntary pilot, embedding Concierge</a:t>
            </a:r>
          </a:p>
          <a:p>
            <a:pPr>
              <a:spcAft>
                <a:spcPts val="400"/>
              </a:spcAft>
              <a:defRPr sz="1200">
                <a:solidFill>
                  <a:srgbClr val="172B4D"/>
                </a:solidFill>
                <a:latin typeface="Segoe UI"/>
              </a:defRPr>
            </a:pPr>
            <a:r>
              <a:t>✓  Days 61–90: Clear expectation for eligible cohorts</a:t>
            </a:r>
          </a:p>
          <a:p>
            <a:pPr>
              <a:spcAft>
                <a:spcPts val="400"/>
              </a:spcAft>
              <a:defRPr sz="1200">
                <a:solidFill>
                  <a:srgbClr val="172B4D"/>
                </a:solidFill>
                <a:latin typeface="Segoe UI"/>
              </a:defRPr>
            </a:pPr>
            <a:r>
              <a:t>✓  Day 90+: Data-backed mandate, confirmed by feedback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480560"/>
            <a:ext cx="10698480" cy="1645920"/>
          </a:xfrm>
          <a:prstGeom prst="roundRect">
            <a:avLst/>
          </a:prstGeom>
          <a:solidFill>
            <a:srgbClr val="DEEBFF"/>
          </a:solidFill>
          <a:ln w="12700">
            <a:solidFill>
              <a:srgbClr val="0052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57200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052CC"/>
                </a:solidFill>
                <a:latin typeface="Segoe UI"/>
              </a:defRPr>
            </a:pPr>
            <a:r>
              <a:t>MY ASK OF P&amp;T LEADERSHIP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5029200"/>
            <a:ext cx="2468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50292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72B4D"/>
                </a:solidFill>
                <a:latin typeface="Segoe UI"/>
              </a:defRPr>
            </a:pPr>
            <a:r>
              <a:t>🛡️ Air cover during pilot — no forced mandate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5029200"/>
            <a:ext cx="2468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39" y="50292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72B4D"/>
                </a:solidFill>
                <a:latin typeface="Segoe UI"/>
              </a:defRPr>
            </a:pPr>
            <a:r>
              <a:t>🎙️ Exec sponsor for all-hands session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5029200"/>
            <a:ext cx="2468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80759" y="50292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72B4D"/>
                </a:solidFill>
                <a:latin typeface="Segoe UI"/>
              </a:defRPr>
            </a:pPr>
            <a:r>
              <a:t>🔗 Access to 2–3 willing pilot PMs in Week 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595359" y="5029200"/>
            <a:ext cx="246888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41080" y="5029200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72B4D"/>
                </a:solidFill>
                <a:latin typeface="Segoe UI"/>
              </a:defRPr>
            </a:pPr>
            <a:r>
              <a:t>📊 Release log access for baseline measurement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